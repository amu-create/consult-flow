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1년차</c:v>
                  </c:pt>
                  <c:pt idx="1">
                    <c:v>2년차</c:v>
                  </c:pt>
                  <c:pt idx="2">
                    <c:v>3년차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1740</c:v>
                </c:pt>
                <c:pt idx="1">
                  <c:v>6960</c:v>
                </c:pt>
                <c:pt idx="2">
                  <c:v>17400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비용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1년차</c:v>
                  </c:pt>
                  <c:pt idx="1">
                    <c:v>2년차</c:v>
                  </c:pt>
                  <c:pt idx="2">
                    <c:v>3년차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2400</c:v>
                </c:pt>
                <c:pt idx="1">
                  <c:v>4800</c:v>
                </c:pt>
                <c:pt idx="2">
                  <c:v>8400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자금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제품 개발</c:v>
                </c:pt>
                <c:pt idx="1">
                  <c:v>인건비</c:v>
                </c:pt>
                <c:pt idx="2">
                  <c:v>마케팅</c:v>
                </c:pt>
                <c:pt idx="3">
                  <c:v>운영비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371600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ConsultFlow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상담 전환 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"상담은 했는데 등록은 안 되는 학원을 위한 솔루션"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발표자: _______________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청년창업지원금 심사용 사업계획서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업계의 구조적 전환율 문제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4688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~10만개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통계청 2023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4688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25~35%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전환율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→ 등록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4688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3,000억원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미전환 손실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시장 전체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원인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이력 누락 — 누가 언제 뭘 말했는지 기록 없음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후속 연락 지연 — 타이밍을 놓쳐 학부모 이탈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관심도 파악 불가 — 등록 가능성 높은 리드 식별 불가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솔루션의 한계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시장에 학원 상담 전환 특화 도구가 없음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솔루션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엑셀 / 수기 관리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상담 이력 누락, 팔로업 망각, 데이터 분석 불가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네이버 예약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예약만 가능, 상담 프로세스 관리 없음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학원관리 앱 (클래스팅 등)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재원생 관리 중심, 신규 문의 전환에 약함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 CRM (허브스팟 등)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학원 특화 아님, 고가, 영어 인터페이스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학원 상담 전환에 특화된 SaaS 도구가 시장에 부재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소개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ConsultFlow = 학원 상담 전환 특화 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63040"/>
            <a:ext cx="7790688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퍼널 관리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→ 초기상담 → 체험 →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8단계 상태머신으로 전환 과정 완벽 추적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73152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560320"/>
            <a:ext cx="7790688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74320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관심도 자동 측정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기록의 10가지 신호를 분석하여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 가능성 스코어 자동 산출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3657600"/>
            <a:ext cx="7790688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38404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후속 액션 강제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기록 시 팔로업 태스크 필수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방치 리드 원천 차단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가치: 상담 한 건도 놓치지 않는 전환 시스템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데모 — 대시보드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KPI를 한눈에 파악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대시보드 스크린샷 — 라이브 데모 시 실제 화면 시연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리드 현황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4480560"/>
            <a:ext cx="18288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전환율 / 방치 리드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4480560"/>
            <a:ext cx="18288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분포 도넛 차트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4480560"/>
            <a:ext cx="18288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지표 카드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데모 —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칸반 보드로 상태 관리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칸반 보드 스크린샷 — 드래그앤드롭으로 상태 변경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246888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드래그앤드롭 상태 변경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4480560"/>
            <a:ext cx="246888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 전이만 허용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4480560"/>
            <a:ext cx="246888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보는 파이프라인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데모 — 분석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의사결정 지원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분석 대시보드 스크린샷 — 6종 차트 + KPI 카드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 퍼널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4480560"/>
            <a:ext cx="182880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트렌드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4480560"/>
            <a:ext cx="182880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경로 분석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4480560"/>
            <a:ext cx="182880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이탈 사유 분석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차별점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전환에 특화된 4가지 핵심 기술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64008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머신 기반 전환 프로세스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상태 전이 자동 차단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8단계 상태 + 유효 전이 규칙으로 데이터 무결성 보장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64008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관심도 자동 스코어링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기록에서 10종 신호를 가중치 합산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 가능성 높은 리드를 자동 식별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17520"/>
            <a:ext cx="64008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팔로업 강제 생성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기록 시 다음 액션 필수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방치 리드를 원천 차단하는 구조적 장치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17520"/>
            <a:ext cx="64008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이탈 사유 데이터 축적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복수 선택 + 재시도 플래그로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이탈 패턴 분석 → 개선 인사이트 도출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규모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→ SAM → SOM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3,600억원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1920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학원 10만개 × 월 3만원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0" y="2560320"/>
            <a:ext cx="5943600" cy="91440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2606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2,160억원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718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중소규모 학원 6만개 × 월 3만원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657600"/>
            <a:ext cx="4114800" cy="9144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3703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8620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1.8억원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862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3년 목표 500개 학원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월 구독 — 3단계 요금제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256032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리드 30건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기능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463040"/>
            <a:ext cx="2560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29,000원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25603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 리드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+ CSV 내보내기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463040"/>
            <a:ext cx="25603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59,000원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멀티지점 관리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카카오/SMS 연동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 지원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1234440"/>
            <a:ext cx="256032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1234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확보 전략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Go-to-Market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56032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25603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0~6개월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영업 (학원 방문/전화)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학원장 온라인 카페 활동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체험 (스타터 플랜)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56032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463040"/>
            <a:ext cx="25603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719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6~12개월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1488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마케팅 (학원 운영 블로그)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고객 입소문 / 추천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연구 (Case Study) 공개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256032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463040"/>
            <a:ext cx="25603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719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12~24개월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컨설팅 업체 파트너십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프랜차이즈 본사 B2B 영업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박람회 참가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 계획 (3년)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2년차 상반기 BEP 달성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1년차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2년차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3년차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유료 학원 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1,450만원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1,740만원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6,960만원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1.74억원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운영비용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4,800만원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8,400만원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손익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+2,160만원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+9,000만원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40080" y="3657600"/>
          <a:ext cx="78638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일정 계획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6002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655064" y="1801368"/>
            <a:ext cx="0" cy="484632"/>
          </a:xfrm>
          <a:prstGeom prst="line">
            <a:avLst/>
          </a:prstGeom>
          <a:noFill/>
          <a:ln w="254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463040"/>
            <a:ext cx="64008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463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완성 + 베타 테스터 10개 학원 확보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22860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5064" y="2487168"/>
            <a:ext cx="0" cy="484632"/>
          </a:xfrm>
          <a:prstGeom prst="line">
            <a:avLst/>
          </a:prstGeom>
          <a:noFill/>
          <a:ln w="254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0" y="2148840"/>
            <a:ext cx="64008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정식 출시 + 카카오/SMS 연동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29718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5064" y="3172968"/>
            <a:ext cx="0" cy="484632"/>
          </a:xfrm>
          <a:prstGeom prst="line">
            <a:avLst/>
          </a:prstGeom>
          <a:noFill/>
          <a:ln w="254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2834640"/>
            <a:ext cx="64008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2834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전환 50개 학원 달성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5448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55064" y="3858768"/>
            <a:ext cx="0" cy="484632"/>
          </a:xfrm>
          <a:prstGeom prst="line">
            <a:avLst/>
          </a:prstGeom>
          <a:noFill/>
          <a:ln w="254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3520440"/>
            <a:ext cx="64008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시리즈A 준비 + 200개 학원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54480" y="43434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206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4206240"/>
            <a:ext cx="64008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4206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멀티지점 관리 + 프랜차이즈 영업 시작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"학원 업계 pain point를 기술로 해결하는 팀"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373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/ 개발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(본인 정보 입력)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풀스택 개발 (Next.js, React, Prisma, TypeScript)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업계 도메인 이해 + 기술 구현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채용 예정 (지원금 활용)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1488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디자이너 1명</a:t>
            </a:r>
            <a:endParaRPr lang="en-US" sz="11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경험 최적화, 랜딩페이지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마케터 1명</a:t>
            </a:r>
            <a:endParaRPr lang="en-US" sz="11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마케팅, 학원장 커뮤니티 운영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118872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4389120"/>
            <a:ext cx="118872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4389120"/>
            <a:ext cx="118872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4389120"/>
            <a:ext cx="118872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4389120"/>
            <a:ext cx="118872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98080" y="4389120"/>
            <a:ext cx="118872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자금 사용 계획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5,000만원 — 제품 · 인력 · 마케팅 · 운영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716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463040"/>
            <a:ext cx="411480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0" y="1463040"/>
            <a:ext cx="64008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490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개발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1490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1,500만원 (30%)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인프라, API 연동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(카카오, SMS, 결제)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0" y="2286000"/>
            <a:ext cx="411480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286000"/>
            <a:ext cx="64008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313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인건비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0" y="2313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2,000만원 (40%)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2633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디자이너 1명, 마케터 1명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(6개월 기준)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0" y="3108960"/>
            <a:ext cx="411480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3108960"/>
            <a:ext cx="64008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1792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1,000만원 (20%)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고객 확보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광고, 콘텐츠 제작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0" y="3931920"/>
            <a:ext cx="411480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0" y="3931920"/>
            <a:ext cx="64008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3959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운영비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1792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500만원 (10%)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4279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사무실, 클라우드 비용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 운영 경비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461772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합계: 5,000만원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ConsultFlow - 학원 상담 전환 OS 사업계획서</dc:title>
  <dc:subject>PptxGenJS Presentation</dc:subject>
  <dc:creator>ConsultFlow</dc:creator>
  <cp:lastModifiedBy>ConsultFlow</cp:lastModifiedBy>
  <cp:revision>1</cp:revision>
  <dcterms:created xsi:type="dcterms:W3CDTF">2026-04-02T01:32:32Z</dcterms:created>
  <dcterms:modified xsi:type="dcterms:W3CDTF">2026-04-02T01:32:32Z</dcterms:modified>
</cp:coreProperties>
</file>